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Source Sans 3" panose="020B0604020202020204" charset="0"/>
      <p:regular r:id="rId16"/>
    </p:embeddedFont>
    <p:embeddedFont>
      <p:font typeface="Source Serif 4 Semi Bold" panose="020B0604020202020204" charset="0"/>
      <p:regular r:id="rId17"/>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685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3406973"/>
            <a:ext cx="7468553" cy="1415653"/>
          </a:xfrm>
          <a:prstGeom prst="rect">
            <a:avLst/>
          </a:prstGeom>
          <a:noFill/>
          <a:ln/>
        </p:spPr>
        <p:txBody>
          <a:bodyPr wrap="squar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 LibTracker - Midterm Presentation</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884045"/>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Project Introduction</a:t>
            </a:r>
            <a:endParaRPr lang="en-US" sz="4400" dirty="0"/>
          </a:p>
        </p:txBody>
      </p:sp>
      <p:sp>
        <p:nvSpPr>
          <p:cNvPr id="3" name="Shape 1"/>
          <p:cNvSpPr/>
          <p:nvPr/>
        </p:nvSpPr>
        <p:spPr>
          <a:xfrm>
            <a:off x="837724" y="3066812"/>
            <a:ext cx="4158734" cy="1755458"/>
          </a:xfrm>
          <a:prstGeom prst="roundRect">
            <a:avLst>
              <a:gd name="adj" fmla="val 5727"/>
            </a:avLst>
          </a:prstGeom>
          <a:solidFill>
            <a:srgbClr val="F0D4F7"/>
          </a:solidFill>
          <a:ln w="7620">
            <a:solidFill>
              <a:srgbClr val="D6BADD"/>
            </a:solidFill>
            <a:prstDash val="solid"/>
          </a:ln>
        </p:spPr>
        <p:txBody>
          <a:bodyPr/>
          <a:lstStyle/>
          <a:p>
            <a:endParaRPr lang="tr-TR"/>
          </a:p>
        </p:txBody>
      </p:sp>
      <p:sp>
        <p:nvSpPr>
          <p:cNvPr id="4" name="Text 2"/>
          <p:cNvSpPr/>
          <p:nvPr/>
        </p:nvSpPr>
        <p:spPr>
          <a:xfrm>
            <a:off x="1084659" y="331374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Project Name</a:t>
            </a:r>
            <a:endParaRPr lang="en-US" sz="2200" dirty="0"/>
          </a:p>
        </p:txBody>
      </p:sp>
      <p:sp>
        <p:nvSpPr>
          <p:cNvPr id="5" name="Text 3"/>
          <p:cNvSpPr/>
          <p:nvPr/>
        </p:nvSpPr>
        <p:spPr>
          <a:xfrm>
            <a:off x="1084659" y="3809286"/>
            <a:ext cx="3664863"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LibTracker</a:t>
            </a:r>
            <a:endParaRPr lang="en-US" sz="1850" dirty="0"/>
          </a:p>
        </p:txBody>
      </p:sp>
      <p:sp>
        <p:nvSpPr>
          <p:cNvPr id="6" name="Shape 4"/>
          <p:cNvSpPr/>
          <p:nvPr/>
        </p:nvSpPr>
        <p:spPr>
          <a:xfrm>
            <a:off x="5235773" y="3066812"/>
            <a:ext cx="4158734" cy="1755458"/>
          </a:xfrm>
          <a:prstGeom prst="roundRect">
            <a:avLst>
              <a:gd name="adj" fmla="val 5727"/>
            </a:avLst>
          </a:prstGeom>
          <a:solidFill>
            <a:srgbClr val="F0D4F7"/>
          </a:solidFill>
          <a:ln w="7620">
            <a:solidFill>
              <a:srgbClr val="D6BADD"/>
            </a:solidFill>
            <a:prstDash val="solid"/>
          </a:ln>
        </p:spPr>
        <p:txBody>
          <a:bodyPr/>
          <a:lstStyle/>
          <a:p>
            <a:endParaRPr lang="tr-TR"/>
          </a:p>
        </p:txBody>
      </p:sp>
      <p:sp>
        <p:nvSpPr>
          <p:cNvPr id="7" name="Text 5"/>
          <p:cNvSpPr/>
          <p:nvPr/>
        </p:nvSpPr>
        <p:spPr>
          <a:xfrm>
            <a:off x="5482709" y="331374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Team</a:t>
            </a:r>
            <a:endParaRPr lang="en-US" sz="2200" dirty="0"/>
          </a:p>
        </p:txBody>
      </p:sp>
      <p:sp>
        <p:nvSpPr>
          <p:cNvPr id="8" name="Text 6"/>
          <p:cNvSpPr/>
          <p:nvPr/>
        </p:nvSpPr>
        <p:spPr>
          <a:xfrm>
            <a:off x="5482709" y="3809286"/>
            <a:ext cx="3664863"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Rebs Dev</a:t>
            </a:r>
            <a:endParaRPr lang="en-US" sz="1850" dirty="0"/>
          </a:p>
        </p:txBody>
      </p:sp>
      <p:sp>
        <p:nvSpPr>
          <p:cNvPr id="9" name="Shape 7"/>
          <p:cNvSpPr/>
          <p:nvPr/>
        </p:nvSpPr>
        <p:spPr>
          <a:xfrm>
            <a:off x="9633823" y="3066812"/>
            <a:ext cx="4158853" cy="1755458"/>
          </a:xfrm>
          <a:prstGeom prst="roundRect">
            <a:avLst>
              <a:gd name="adj" fmla="val 5727"/>
            </a:avLst>
          </a:prstGeom>
          <a:solidFill>
            <a:srgbClr val="F0D4F7"/>
          </a:solidFill>
          <a:ln w="7620">
            <a:solidFill>
              <a:srgbClr val="D6BADD"/>
            </a:solidFill>
            <a:prstDash val="solid"/>
          </a:ln>
        </p:spPr>
        <p:txBody>
          <a:bodyPr/>
          <a:lstStyle/>
          <a:p>
            <a:endParaRPr lang="tr-TR"/>
          </a:p>
        </p:txBody>
      </p:sp>
      <p:sp>
        <p:nvSpPr>
          <p:cNvPr id="10" name="Text 8"/>
          <p:cNvSpPr/>
          <p:nvPr/>
        </p:nvSpPr>
        <p:spPr>
          <a:xfrm>
            <a:off x="9880759" y="331374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Members</a:t>
            </a:r>
            <a:endParaRPr lang="en-US" sz="2200" dirty="0"/>
          </a:p>
        </p:txBody>
      </p:sp>
      <p:sp>
        <p:nvSpPr>
          <p:cNvPr id="11" name="Text 9"/>
          <p:cNvSpPr/>
          <p:nvPr/>
        </p:nvSpPr>
        <p:spPr>
          <a:xfrm>
            <a:off x="9880759" y="3809286"/>
            <a:ext cx="366498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Sirac Ketenoğlu, Emre Turan, Barış Küçükkaya, Reis Yıldız</a:t>
            </a:r>
            <a:endParaRPr lang="en-US" sz="1850" dirty="0"/>
          </a:p>
        </p:txBody>
      </p:sp>
      <p:sp>
        <p:nvSpPr>
          <p:cNvPr id="12" name="Text 10"/>
          <p:cNvSpPr/>
          <p:nvPr/>
        </p:nvSpPr>
        <p:spPr>
          <a:xfrm>
            <a:off x="837724" y="5181243"/>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Goal</a:t>
            </a:r>
            <a:endParaRPr lang="en-US" sz="2650" dirty="0"/>
          </a:p>
        </p:txBody>
      </p:sp>
      <p:sp>
        <p:nvSpPr>
          <p:cNvPr id="13" name="Text 11"/>
          <p:cNvSpPr/>
          <p:nvPr/>
        </p:nvSpPr>
        <p:spPr>
          <a:xfrm>
            <a:off x="837724" y="5962531"/>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To monitor, manage, and display the live occupancy levels of university libraries and study spaces.</a:t>
            </a:r>
            <a:endParaRPr lang="en-US" sz="1850" dirty="0"/>
          </a:p>
        </p:txBody>
      </p:sp>
      <p:sp>
        <p:nvSpPr>
          <p:cNvPr id="14" name="Dikdörtgen 13">
            <a:extLst>
              <a:ext uri="{FF2B5EF4-FFF2-40B4-BE49-F238E27FC236}">
                <a16:creationId xmlns:a16="http://schemas.microsoft.com/office/drawing/2014/main" id="{36A07CB5-4A4F-73E3-CD3F-A01776037C9C}"/>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951190"/>
            <a:ext cx="6549628"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Project Charter &amp; Vision</a:t>
            </a:r>
            <a:endParaRPr lang="en-US" sz="4400" dirty="0"/>
          </a:p>
        </p:txBody>
      </p:sp>
      <p:sp>
        <p:nvSpPr>
          <p:cNvPr id="3" name="Text 1"/>
          <p:cNvSpPr/>
          <p:nvPr/>
        </p:nvSpPr>
        <p:spPr>
          <a:xfrm>
            <a:off x="837724" y="1750933"/>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BE49DF"/>
                </a:solidFill>
                <a:latin typeface="Source Serif 4 Semi Bold" pitchFamily="34" charset="0"/>
                <a:ea typeface="Source Serif 4 Semi Bold" pitchFamily="34" charset="-122"/>
                <a:cs typeface="Source Serif 4 Semi Bold" pitchFamily="34" charset="-120"/>
              </a:rPr>
              <a:t>Problem</a:t>
            </a:r>
            <a:endParaRPr lang="en-US" sz="2650" dirty="0"/>
          </a:p>
        </p:txBody>
      </p:sp>
      <p:sp>
        <p:nvSpPr>
          <p:cNvPr id="4" name="Text 2"/>
          <p:cNvSpPr/>
          <p:nvPr/>
        </p:nvSpPr>
        <p:spPr>
          <a:xfrm>
            <a:off x="837724" y="2532221"/>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Unpredictable busyness and wasting time to find available spots in university libraries.</a:t>
            </a:r>
            <a:endParaRPr lang="en-US" sz="1850" dirty="0"/>
          </a:p>
        </p:txBody>
      </p:sp>
      <p:sp>
        <p:nvSpPr>
          <p:cNvPr id="5" name="Text 3"/>
          <p:cNvSpPr/>
          <p:nvPr/>
        </p:nvSpPr>
        <p:spPr>
          <a:xfrm>
            <a:off x="837724" y="3274219"/>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BE49DF"/>
                </a:solidFill>
                <a:latin typeface="Source Serif 4 Semi Bold" pitchFamily="34" charset="0"/>
                <a:ea typeface="Source Serif 4 Semi Bold" pitchFamily="34" charset="-122"/>
                <a:cs typeface="Source Serif 4 Semi Bold" pitchFamily="34" charset="-120"/>
              </a:rPr>
              <a:t>Vision</a:t>
            </a:r>
            <a:endParaRPr lang="en-US" sz="2650" dirty="0"/>
          </a:p>
        </p:txBody>
      </p:sp>
      <p:sp>
        <p:nvSpPr>
          <p:cNvPr id="6" name="Text 4"/>
          <p:cNvSpPr/>
          <p:nvPr/>
        </p:nvSpPr>
        <p:spPr>
          <a:xfrm>
            <a:off x="837724" y="4055507"/>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For university students who struggle to find available study spaces, LibTracker is an occupancy tracking application that displays the real time busyness of libraries. Our product saves students' time by providing reliable data.</a:t>
            </a:r>
            <a:endParaRPr lang="en-US" sz="1850" dirty="0"/>
          </a:p>
        </p:txBody>
      </p:sp>
      <p:sp>
        <p:nvSpPr>
          <p:cNvPr id="7" name="Text 5"/>
          <p:cNvSpPr/>
          <p:nvPr/>
        </p:nvSpPr>
        <p:spPr>
          <a:xfrm>
            <a:off x="837724" y="5180528"/>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Key Stakeholders</a:t>
            </a:r>
            <a:endParaRPr lang="en-US" sz="2650" dirty="0"/>
          </a:p>
        </p:txBody>
      </p:sp>
      <p:sp>
        <p:nvSpPr>
          <p:cNvPr id="8" name="Text 6"/>
          <p:cNvSpPr/>
          <p:nvPr/>
        </p:nvSpPr>
        <p:spPr>
          <a:xfrm>
            <a:off x="837724" y="5961817"/>
            <a:ext cx="12954952" cy="1316474"/>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University Students</a:t>
            </a:r>
            <a:endParaRPr lang="en-US" sz="1850" dirty="0"/>
          </a:p>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Library Management</a:t>
            </a:r>
            <a:endParaRPr lang="en-US" sz="1850" dirty="0"/>
          </a:p>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University Administration</a:t>
            </a:r>
            <a:endParaRPr lang="en-US" sz="1850" dirty="0"/>
          </a:p>
        </p:txBody>
      </p:sp>
      <p:sp>
        <p:nvSpPr>
          <p:cNvPr id="9" name="Dikdörtgen 8">
            <a:extLst>
              <a:ext uri="{FF2B5EF4-FFF2-40B4-BE49-F238E27FC236}">
                <a16:creationId xmlns:a16="http://schemas.microsoft.com/office/drawing/2014/main" id="{802F17D7-EBC3-ED22-315B-72DB3A9A7AFC}"/>
              </a:ext>
            </a:extLst>
          </p:cNvPr>
          <p:cNvSpPr/>
          <p:nvPr/>
        </p:nvSpPr>
        <p:spPr>
          <a:xfrm>
            <a:off x="12625024"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411010"/>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Personas</a:t>
            </a:r>
            <a:endParaRPr lang="en-US" sz="4400" dirty="0"/>
          </a:p>
        </p:txBody>
      </p:sp>
      <p:sp>
        <p:nvSpPr>
          <p:cNvPr id="3" name="Shape 1"/>
          <p:cNvSpPr/>
          <p:nvPr/>
        </p:nvSpPr>
        <p:spPr>
          <a:xfrm>
            <a:off x="837724" y="2593777"/>
            <a:ext cx="6357818" cy="2184202"/>
          </a:xfrm>
          <a:prstGeom prst="roundRect">
            <a:avLst>
              <a:gd name="adj" fmla="val 4603"/>
            </a:avLst>
          </a:prstGeom>
          <a:solidFill>
            <a:srgbClr val="FFFFFF">
              <a:alpha val="95000"/>
            </a:srgbClr>
          </a:solidFill>
          <a:ln w="30480">
            <a:solidFill>
              <a:srgbClr val="D6BADD"/>
            </a:solidFill>
            <a:prstDash val="solid"/>
          </a:ln>
        </p:spPr>
        <p:txBody>
          <a:bodyPr/>
          <a:lstStyle/>
          <a:p>
            <a:endParaRPr lang="tr-TR"/>
          </a:p>
        </p:txBody>
      </p:sp>
      <p:sp>
        <p:nvSpPr>
          <p:cNvPr id="4" name="Text 2"/>
          <p:cNvSpPr/>
          <p:nvPr/>
        </p:nvSpPr>
        <p:spPr>
          <a:xfrm>
            <a:off x="1107519" y="2863572"/>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Damla (22)</a:t>
            </a:r>
            <a:endParaRPr lang="en-US" sz="2200" dirty="0"/>
          </a:p>
        </p:txBody>
      </p:sp>
      <p:sp>
        <p:nvSpPr>
          <p:cNvPr id="5" name="Text 3"/>
          <p:cNvSpPr/>
          <p:nvPr/>
        </p:nvSpPr>
        <p:spPr>
          <a:xfrm>
            <a:off x="1107519" y="3359110"/>
            <a:ext cx="581822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Senior law student and commuter. Time management is crucial; she plans to use LibTracker to check occupancy before leaving home.</a:t>
            </a:r>
            <a:endParaRPr lang="en-US" sz="1850" dirty="0"/>
          </a:p>
        </p:txBody>
      </p:sp>
      <p:sp>
        <p:nvSpPr>
          <p:cNvPr id="6" name="Shape 4"/>
          <p:cNvSpPr/>
          <p:nvPr/>
        </p:nvSpPr>
        <p:spPr>
          <a:xfrm>
            <a:off x="7434858" y="2593777"/>
            <a:ext cx="6357818" cy="2184202"/>
          </a:xfrm>
          <a:prstGeom prst="roundRect">
            <a:avLst>
              <a:gd name="adj" fmla="val 4603"/>
            </a:avLst>
          </a:prstGeom>
          <a:solidFill>
            <a:srgbClr val="FFFFFF">
              <a:alpha val="95000"/>
            </a:srgbClr>
          </a:solidFill>
          <a:ln w="30480">
            <a:solidFill>
              <a:srgbClr val="D6BADD"/>
            </a:solidFill>
            <a:prstDash val="solid"/>
          </a:ln>
        </p:spPr>
        <p:txBody>
          <a:bodyPr/>
          <a:lstStyle/>
          <a:p>
            <a:endParaRPr lang="tr-TR"/>
          </a:p>
        </p:txBody>
      </p:sp>
      <p:sp>
        <p:nvSpPr>
          <p:cNvPr id="7" name="Text 5"/>
          <p:cNvSpPr/>
          <p:nvPr/>
        </p:nvSpPr>
        <p:spPr>
          <a:xfrm>
            <a:off x="7704653" y="2863572"/>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Barış (23)</a:t>
            </a:r>
            <a:endParaRPr lang="en-US" sz="2200" dirty="0"/>
          </a:p>
        </p:txBody>
      </p:sp>
      <p:sp>
        <p:nvSpPr>
          <p:cNvPr id="8" name="Text 6"/>
          <p:cNvSpPr/>
          <p:nvPr/>
        </p:nvSpPr>
        <p:spPr>
          <a:xfrm>
            <a:off x="7704653" y="3359110"/>
            <a:ext cx="5818227"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Computer engineering student. Cannot focus in loud places and values data integrity.</a:t>
            </a:r>
            <a:endParaRPr lang="en-US" sz="1850" dirty="0"/>
          </a:p>
        </p:txBody>
      </p:sp>
      <p:sp>
        <p:nvSpPr>
          <p:cNvPr id="9" name="Shape 7"/>
          <p:cNvSpPr/>
          <p:nvPr/>
        </p:nvSpPr>
        <p:spPr>
          <a:xfrm>
            <a:off x="837724" y="5017294"/>
            <a:ext cx="6357818" cy="1801177"/>
          </a:xfrm>
          <a:prstGeom prst="roundRect">
            <a:avLst>
              <a:gd name="adj" fmla="val 5582"/>
            </a:avLst>
          </a:prstGeom>
          <a:solidFill>
            <a:srgbClr val="FFFFFF">
              <a:alpha val="95000"/>
            </a:srgbClr>
          </a:solidFill>
          <a:ln w="30480">
            <a:solidFill>
              <a:srgbClr val="D6BADD"/>
            </a:solidFill>
            <a:prstDash val="solid"/>
          </a:ln>
        </p:spPr>
        <p:txBody>
          <a:bodyPr/>
          <a:lstStyle/>
          <a:p>
            <a:endParaRPr lang="tr-TR"/>
          </a:p>
        </p:txBody>
      </p:sp>
      <p:sp>
        <p:nvSpPr>
          <p:cNvPr id="10" name="Text 8"/>
          <p:cNvSpPr/>
          <p:nvPr/>
        </p:nvSpPr>
        <p:spPr>
          <a:xfrm>
            <a:off x="1107519" y="528708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Can (20)</a:t>
            </a:r>
            <a:endParaRPr lang="en-US" sz="2200" dirty="0"/>
          </a:p>
        </p:txBody>
      </p:sp>
      <p:sp>
        <p:nvSpPr>
          <p:cNvPr id="11" name="Text 9"/>
          <p:cNvSpPr/>
          <p:nvPr/>
        </p:nvSpPr>
        <p:spPr>
          <a:xfrm>
            <a:off x="1107519" y="5782628"/>
            <a:ext cx="5818227"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Business student. Prefers group study and dislikes walking aimlessly to find a large table.</a:t>
            </a:r>
            <a:endParaRPr lang="en-US" sz="1850" dirty="0"/>
          </a:p>
        </p:txBody>
      </p:sp>
      <p:sp>
        <p:nvSpPr>
          <p:cNvPr id="12" name="Shape 10"/>
          <p:cNvSpPr/>
          <p:nvPr/>
        </p:nvSpPr>
        <p:spPr>
          <a:xfrm>
            <a:off x="7434858" y="5017294"/>
            <a:ext cx="6357818" cy="1801177"/>
          </a:xfrm>
          <a:prstGeom prst="roundRect">
            <a:avLst>
              <a:gd name="adj" fmla="val 5582"/>
            </a:avLst>
          </a:prstGeom>
          <a:solidFill>
            <a:srgbClr val="FFFFFF">
              <a:alpha val="95000"/>
            </a:srgbClr>
          </a:solidFill>
          <a:ln w="30480">
            <a:solidFill>
              <a:srgbClr val="D6BADD"/>
            </a:solidFill>
            <a:prstDash val="solid"/>
          </a:ln>
        </p:spPr>
        <p:txBody>
          <a:bodyPr/>
          <a:lstStyle/>
          <a:p>
            <a:endParaRPr lang="tr-TR"/>
          </a:p>
        </p:txBody>
      </p:sp>
      <p:sp>
        <p:nvSpPr>
          <p:cNvPr id="13" name="Text 11"/>
          <p:cNvSpPr/>
          <p:nvPr/>
        </p:nvSpPr>
        <p:spPr>
          <a:xfrm>
            <a:off x="7704653" y="528708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Zeynep (45)</a:t>
            </a:r>
            <a:endParaRPr lang="en-US" sz="2200" dirty="0"/>
          </a:p>
        </p:txBody>
      </p:sp>
      <p:sp>
        <p:nvSpPr>
          <p:cNvPr id="14" name="Text 12"/>
          <p:cNvSpPr/>
          <p:nvPr/>
        </p:nvSpPr>
        <p:spPr>
          <a:xfrm>
            <a:off x="7704653" y="5782628"/>
            <a:ext cx="5818227"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Head librarian. Wants to view occupancy trends to manage resources and schedule cleaning staff effectively.</a:t>
            </a:r>
            <a:endParaRPr lang="en-US" sz="1850" dirty="0"/>
          </a:p>
        </p:txBody>
      </p:sp>
      <p:sp>
        <p:nvSpPr>
          <p:cNvPr id="15" name="Dikdörtgen 14">
            <a:extLst>
              <a:ext uri="{FF2B5EF4-FFF2-40B4-BE49-F238E27FC236}">
                <a16:creationId xmlns:a16="http://schemas.microsoft.com/office/drawing/2014/main" id="{CA540343-FFA9-B554-F405-4EC38CCA30C8}"/>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2717" y="704017"/>
            <a:ext cx="6917769" cy="657820"/>
          </a:xfrm>
          <a:prstGeom prst="rect">
            <a:avLst/>
          </a:prstGeom>
          <a:noFill/>
          <a:ln/>
        </p:spPr>
        <p:txBody>
          <a:bodyPr wrap="none" lIns="0" tIns="0" rIns="0" bIns="0" rtlCol="0" anchor="t"/>
          <a:lstStyle/>
          <a:p>
            <a:pPr marL="0" indent="0" algn="l">
              <a:lnSpc>
                <a:spcPts val="5150"/>
              </a:lnSpc>
              <a:buNone/>
            </a:pPr>
            <a:r>
              <a:rPr lang="en-US" sz="4100" dirty="0">
                <a:solidFill>
                  <a:srgbClr val="000000"/>
                </a:solidFill>
                <a:latin typeface="Source Serif 4 Semi Bold" pitchFamily="34" charset="0"/>
                <a:ea typeface="Source Serif 4 Semi Bold" pitchFamily="34" charset="-122"/>
                <a:cs typeface="Source Serif 4 Semi Bold" pitchFamily="34" charset="-120"/>
              </a:rPr>
              <a:t>User Stories &amp; Key Features</a:t>
            </a:r>
            <a:endParaRPr lang="en-US" sz="4100" dirty="0"/>
          </a:p>
        </p:txBody>
      </p:sp>
      <p:sp>
        <p:nvSpPr>
          <p:cNvPr id="3" name="Text 1"/>
          <p:cNvSpPr/>
          <p:nvPr/>
        </p:nvSpPr>
        <p:spPr>
          <a:xfrm>
            <a:off x="782717" y="1445300"/>
            <a:ext cx="3157299" cy="394692"/>
          </a:xfrm>
          <a:prstGeom prst="rect">
            <a:avLst/>
          </a:prstGeom>
          <a:noFill/>
          <a:ln/>
        </p:spPr>
        <p:txBody>
          <a:bodyPr wrap="none" lIns="0" tIns="0" rIns="0" bIns="0" rtlCol="0" anchor="t"/>
          <a:lstStyle/>
          <a:p>
            <a:pPr marL="0" indent="0" algn="l">
              <a:lnSpc>
                <a:spcPts val="3100"/>
              </a:lnSpc>
              <a:buNone/>
            </a:pPr>
            <a:r>
              <a:rPr lang="en-US" sz="2450" dirty="0">
                <a:solidFill>
                  <a:srgbClr val="BE49DF"/>
                </a:solidFill>
                <a:latin typeface="Source Serif 4 Semi Bold" pitchFamily="34" charset="0"/>
                <a:ea typeface="Source Serif 4 Semi Bold" pitchFamily="34" charset="-122"/>
                <a:cs typeface="Source Serif 4 Semi Bold" pitchFamily="34" charset="-120"/>
              </a:rPr>
              <a:t>Top User Story</a:t>
            </a:r>
            <a:endParaRPr lang="en-US" sz="2450" dirty="0"/>
          </a:p>
        </p:txBody>
      </p:sp>
      <p:sp>
        <p:nvSpPr>
          <p:cNvPr id="4" name="Text 2"/>
          <p:cNvSpPr/>
          <p:nvPr/>
        </p:nvSpPr>
        <p:spPr>
          <a:xfrm>
            <a:off x="1118116" y="2388394"/>
            <a:ext cx="12729567" cy="691991"/>
          </a:xfrm>
          <a:prstGeom prst="rect">
            <a:avLst/>
          </a:prstGeom>
          <a:noFill/>
          <a:ln/>
        </p:spPr>
        <p:txBody>
          <a:bodyPr wrap="square" lIns="0" tIns="0" rIns="0" bIns="0" rtlCol="0" anchor="t"/>
          <a:lstStyle/>
          <a:p>
            <a:pPr marL="0" indent="0" algn="l">
              <a:lnSpc>
                <a:spcPts val="2700"/>
              </a:lnSpc>
              <a:buNone/>
            </a:pPr>
            <a:r>
              <a:rPr lang="en-US" sz="1750" dirty="0">
                <a:solidFill>
                  <a:srgbClr val="272525"/>
                </a:solidFill>
                <a:latin typeface="Source Sans 3" pitchFamily="34" charset="0"/>
                <a:ea typeface="Source Sans 3" pitchFamily="34" charset="-122"/>
                <a:cs typeface="Source Sans 3" pitchFamily="34" charset="-120"/>
              </a:rPr>
              <a:t>"As a student living far from campus, I want to check real time occupancy before leaving home so that I don't waste hours commuting to a full library."</a:t>
            </a:r>
            <a:endParaRPr lang="en-US" sz="1750" dirty="0"/>
          </a:p>
        </p:txBody>
      </p:sp>
      <p:sp>
        <p:nvSpPr>
          <p:cNvPr id="5" name="Shape 3"/>
          <p:cNvSpPr/>
          <p:nvPr/>
        </p:nvSpPr>
        <p:spPr>
          <a:xfrm>
            <a:off x="782717" y="2153364"/>
            <a:ext cx="30480" cy="1162050"/>
          </a:xfrm>
          <a:prstGeom prst="rect">
            <a:avLst/>
          </a:prstGeom>
          <a:solidFill>
            <a:srgbClr val="BE49DF"/>
          </a:solidFill>
          <a:ln/>
        </p:spPr>
        <p:txBody>
          <a:bodyPr/>
          <a:lstStyle/>
          <a:p>
            <a:endParaRPr lang="tr-TR"/>
          </a:p>
        </p:txBody>
      </p:sp>
      <p:sp>
        <p:nvSpPr>
          <p:cNvPr id="6" name="Text 4"/>
          <p:cNvSpPr/>
          <p:nvPr/>
        </p:nvSpPr>
        <p:spPr>
          <a:xfrm>
            <a:off x="782717" y="3628787"/>
            <a:ext cx="3157299" cy="394692"/>
          </a:xfrm>
          <a:prstGeom prst="rect">
            <a:avLst/>
          </a:prstGeom>
          <a:noFill/>
          <a:ln/>
        </p:spPr>
        <p:txBody>
          <a:bodyPr wrap="none" lIns="0" tIns="0" rIns="0" bIns="0" rtlCol="0" anchor="t"/>
          <a:lstStyle/>
          <a:p>
            <a:pPr marL="0" indent="0" algn="l">
              <a:lnSpc>
                <a:spcPts val="3100"/>
              </a:lnSpc>
              <a:buNone/>
            </a:pPr>
            <a:r>
              <a:rPr lang="en-US" sz="2450" dirty="0">
                <a:solidFill>
                  <a:srgbClr val="000000"/>
                </a:solidFill>
                <a:latin typeface="Source Serif 4 Semi Bold" pitchFamily="34" charset="0"/>
                <a:ea typeface="Source Serif 4 Semi Bold" pitchFamily="34" charset="-122"/>
                <a:cs typeface="Source Serif 4 Semi Bold" pitchFamily="34" charset="-120"/>
              </a:rPr>
              <a:t>Prioritised Features</a:t>
            </a:r>
            <a:endParaRPr lang="en-US" sz="2450" dirty="0"/>
          </a:p>
        </p:txBody>
      </p:sp>
      <p:sp>
        <p:nvSpPr>
          <p:cNvPr id="7" name="Text 5"/>
          <p:cNvSpPr/>
          <p:nvPr/>
        </p:nvSpPr>
        <p:spPr>
          <a:xfrm>
            <a:off x="782717" y="4336852"/>
            <a:ext cx="223599" cy="279440"/>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erif 4 Light" pitchFamily="34" charset="0"/>
                <a:ea typeface="Source Serif 4 Light" pitchFamily="34" charset="-122"/>
                <a:cs typeface="Source Serif 4 Light" pitchFamily="34" charset="-120"/>
              </a:rPr>
              <a:t>01</a:t>
            </a:r>
            <a:endParaRPr lang="en-US" sz="1750" dirty="0"/>
          </a:p>
        </p:txBody>
      </p:sp>
      <p:sp>
        <p:nvSpPr>
          <p:cNvPr id="8" name="Shape 6"/>
          <p:cNvSpPr/>
          <p:nvPr/>
        </p:nvSpPr>
        <p:spPr>
          <a:xfrm>
            <a:off x="782717" y="4686300"/>
            <a:ext cx="6428065" cy="30480"/>
          </a:xfrm>
          <a:prstGeom prst="rect">
            <a:avLst/>
          </a:prstGeom>
          <a:solidFill>
            <a:srgbClr val="BE49DF"/>
          </a:solidFill>
          <a:ln/>
        </p:spPr>
        <p:txBody>
          <a:bodyPr/>
          <a:lstStyle/>
          <a:p>
            <a:endParaRPr lang="tr-TR"/>
          </a:p>
        </p:txBody>
      </p:sp>
      <p:sp>
        <p:nvSpPr>
          <p:cNvPr id="9" name="Text 7"/>
          <p:cNvSpPr/>
          <p:nvPr/>
        </p:nvSpPr>
        <p:spPr>
          <a:xfrm>
            <a:off x="782717" y="4859060"/>
            <a:ext cx="4185285" cy="328851"/>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Real Time Occupancy Dashboard</a:t>
            </a:r>
            <a:endParaRPr lang="en-US" sz="2050" dirty="0"/>
          </a:p>
        </p:txBody>
      </p:sp>
      <p:sp>
        <p:nvSpPr>
          <p:cNvPr id="10" name="Text 8"/>
          <p:cNvSpPr/>
          <p:nvPr/>
        </p:nvSpPr>
        <p:spPr>
          <a:xfrm>
            <a:off x="782717" y="5313164"/>
            <a:ext cx="6428065" cy="345996"/>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ans 3" pitchFamily="34" charset="0"/>
                <a:ea typeface="Source Sans 3" pitchFamily="34" charset="-122"/>
                <a:cs typeface="Source Sans 3" pitchFamily="34" charset="-120"/>
              </a:rPr>
              <a:t>Displays current busyness.</a:t>
            </a:r>
            <a:endParaRPr lang="en-US" sz="1750" dirty="0"/>
          </a:p>
        </p:txBody>
      </p:sp>
      <p:sp>
        <p:nvSpPr>
          <p:cNvPr id="11" name="Text 9"/>
          <p:cNvSpPr/>
          <p:nvPr/>
        </p:nvSpPr>
        <p:spPr>
          <a:xfrm>
            <a:off x="7419618" y="4336852"/>
            <a:ext cx="223599" cy="279440"/>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erif 4 Light" pitchFamily="34" charset="0"/>
                <a:ea typeface="Source Serif 4 Light" pitchFamily="34" charset="-122"/>
                <a:cs typeface="Source Serif 4 Light" pitchFamily="34" charset="-120"/>
              </a:rPr>
              <a:t>02</a:t>
            </a:r>
            <a:endParaRPr lang="en-US" sz="1750" dirty="0"/>
          </a:p>
        </p:txBody>
      </p:sp>
      <p:sp>
        <p:nvSpPr>
          <p:cNvPr id="12" name="Shape 10"/>
          <p:cNvSpPr/>
          <p:nvPr/>
        </p:nvSpPr>
        <p:spPr>
          <a:xfrm>
            <a:off x="7419618" y="4686300"/>
            <a:ext cx="6428065" cy="30480"/>
          </a:xfrm>
          <a:prstGeom prst="rect">
            <a:avLst/>
          </a:prstGeom>
          <a:solidFill>
            <a:srgbClr val="BE49DF"/>
          </a:solidFill>
          <a:ln/>
        </p:spPr>
        <p:txBody>
          <a:bodyPr/>
          <a:lstStyle/>
          <a:p>
            <a:endParaRPr lang="tr-TR"/>
          </a:p>
        </p:txBody>
      </p:sp>
      <p:sp>
        <p:nvSpPr>
          <p:cNvPr id="13" name="Text 11"/>
          <p:cNvSpPr/>
          <p:nvPr/>
        </p:nvSpPr>
        <p:spPr>
          <a:xfrm>
            <a:off x="7419618" y="4859060"/>
            <a:ext cx="2814280" cy="328851"/>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User Feedback System</a:t>
            </a:r>
            <a:endParaRPr lang="en-US" sz="2050" dirty="0"/>
          </a:p>
        </p:txBody>
      </p:sp>
      <p:sp>
        <p:nvSpPr>
          <p:cNvPr id="14" name="Text 12"/>
          <p:cNvSpPr/>
          <p:nvPr/>
        </p:nvSpPr>
        <p:spPr>
          <a:xfrm>
            <a:off x="7419618" y="5313164"/>
            <a:ext cx="6428065" cy="345996"/>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ans 3" pitchFamily="34" charset="0"/>
                <a:ea typeface="Source Sans 3" pitchFamily="34" charset="-122"/>
                <a:cs typeface="Source Sans 3" pitchFamily="34" charset="-120"/>
              </a:rPr>
              <a:t>Allows verified students to update active occupancy.</a:t>
            </a:r>
            <a:endParaRPr lang="en-US" sz="1750" dirty="0"/>
          </a:p>
        </p:txBody>
      </p:sp>
      <p:sp>
        <p:nvSpPr>
          <p:cNvPr id="15" name="Text 13"/>
          <p:cNvSpPr/>
          <p:nvPr/>
        </p:nvSpPr>
        <p:spPr>
          <a:xfrm>
            <a:off x="782717" y="6035635"/>
            <a:ext cx="223599" cy="279440"/>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erif 4 Light" pitchFamily="34" charset="0"/>
                <a:ea typeface="Source Serif 4 Light" pitchFamily="34" charset="-122"/>
                <a:cs typeface="Source Serif 4 Light" pitchFamily="34" charset="-120"/>
              </a:rPr>
              <a:t>03</a:t>
            </a:r>
            <a:endParaRPr lang="en-US" sz="1750" dirty="0"/>
          </a:p>
        </p:txBody>
      </p:sp>
      <p:sp>
        <p:nvSpPr>
          <p:cNvPr id="16" name="Shape 14"/>
          <p:cNvSpPr/>
          <p:nvPr/>
        </p:nvSpPr>
        <p:spPr>
          <a:xfrm>
            <a:off x="782717" y="6385084"/>
            <a:ext cx="6428065" cy="30480"/>
          </a:xfrm>
          <a:prstGeom prst="rect">
            <a:avLst/>
          </a:prstGeom>
          <a:solidFill>
            <a:srgbClr val="BE49DF"/>
          </a:solidFill>
          <a:ln/>
        </p:spPr>
        <p:txBody>
          <a:bodyPr/>
          <a:lstStyle/>
          <a:p>
            <a:endParaRPr lang="tr-TR"/>
          </a:p>
        </p:txBody>
      </p:sp>
      <p:sp>
        <p:nvSpPr>
          <p:cNvPr id="17" name="Text 15"/>
          <p:cNvSpPr/>
          <p:nvPr/>
        </p:nvSpPr>
        <p:spPr>
          <a:xfrm>
            <a:off x="782717" y="6557843"/>
            <a:ext cx="3929658" cy="328851"/>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Study Area Reservation System</a:t>
            </a:r>
            <a:endParaRPr lang="en-US" sz="2050" dirty="0"/>
          </a:p>
        </p:txBody>
      </p:sp>
      <p:sp>
        <p:nvSpPr>
          <p:cNvPr id="18" name="Text 16"/>
          <p:cNvSpPr/>
          <p:nvPr/>
        </p:nvSpPr>
        <p:spPr>
          <a:xfrm>
            <a:off x="782717" y="7011948"/>
            <a:ext cx="6428065" cy="345996"/>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ans 3" pitchFamily="34" charset="0"/>
                <a:ea typeface="Source Sans 3" pitchFamily="34" charset="-122"/>
                <a:cs typeface="Source Sans 3" pitchFamily="34" charset="-120"/>
              </a:rPr>
              <a:t>Book seats in advance during peak periods.</a:t>
            </a:r>
            <a:endParaRPr lang="en-US" sz="1750" dirty="0"/>
          </a:p>
        </p:txBody>
      </p:sp>
      <p:sp>
        <p:nvSpPr>
          <p:cNvPr id="19" name="Text 17"/>
          <p:cNvSpPr/>
          <p:nvPr/>
        </p:nvSpPr>
        <p:spPr>
          <a:xfrm>
            <a:off x="7419618" y="6035635"/>
            <a:ext cx="223599" cy="279440"/>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erif 4 Light" pitchFamily="34" charset="0"/>
                <a:ea typeface="Source Serif 4 Light" pitchFamily="34" charset="-122"/>
                <a:cs typeface="Source Serif 4 Light" pitchFamily="34" charset="-120"/>
              </a:rPr>
              <a:t>04</a:t>
            </a:r>
            <a:endParaRPr lang="en-US" sz="1750" dirty="0"/>
          </a:p>
        </p:txBody>
      </p:sp>
      <p:sp>
        <p:nvSpPr>
          <p:cNvPr id="20" name="Shape 18"/>
          <p:cNvSpPr/>
          <p:nvPr/>
        </p:nvSpPr>
        <p:spPr>
          <a:xfrm>
            <a:off x="7419618" y="6385084"/>
            <a:ext cx="6428065" cy="30480"/>
          </a:xfrm>
          <a:prstGeom prst="rect">
            <a:avLst/>
          </a:prstGeom>
          <a:solidFill>
            <a:srgbClr val="BE49DF"/>
          </a:solidFill>
          <a:ln/>
        </p:spPr>
        <p:txBody>
          <a:bodyPr/>
          <a:lstStyle/>
          <a:p>
            <a:endParaRPr lang="tr-TR"/>
          </a:p>
        </p:txBody>
      </p:sp>
      <p:sp>
        <p:nvSpPr>
          <p:cNvPr id="21" name="Text 19"/>
          <p:cNvSpPr/>
          <p:nvPr/>
        </p:nvSpPr>
        <p:spPr>
          <a:xfrm>
            <a:off x="7419618" y="6557843"/>
            <a:ext cx="3740825" cy="328851"/>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Backend Statistics Dashboard</a:t>
            </a:r>
            <a:endParaRPr lang="en-US" sz="2050" dirty="0"/>
          </a:p>
        </p:txBody>
      </p:sp>
      <p:sp>
        <p:nvSpPr>
          <p:cNvPr id="22" name="Text 20"/>
          <p:cNvSpPr/>
          <p:nvPr/>
        </p:nvSpPr>
        <p:spPr>
          <a:xfrm>
            <a:off x="7419618" y="7011948"/>
            <a:ext cx="6428065" cy="345996"/>
          </a:xfrm>
          <a:prstGeom prst="rect">
            <a:avLst/>
          </a:prstGeom>
          <a:noFill/>
          <a:ln/>
        </p:spPr>
        <p:txBody>
          <a:bodyPr wrap="none" lIns="0" tIns="0" rIns="0" bIns="0" rtlCol="0" anchor="t"/>
          <a:lstStyle/>
          <a:p>
            <a:pPr marL="0" indent="0" algn="l">
              <a:lnSpc>
                <a:spcPts val="2700"/>
              </a:lnSpc>
              <a:buNone/>
            </a:pPr>
            <a:r>
              <a:rPr lang="en-US" sz="1750" dirty="0">
                <a:solidFill>
                  <a:srgbClr val="272525"/>
                </a:solidFill>
                <a:latin typeface="Source Sans 3" pitchFamily="34" charset="0"/>
                <a:ea typeface="Source Sans 3" pitchFamily="34" charset="-122"/>
                <a:cs typeface="Source Sans 3" pitchFamily="34" charset="-120"/>
              </a:rPr>
              <a:t>Visual charts on daily peak hours for administrative use.</a:t>
            </a:r>
            <a:endParaRPr lang="en-US" sz="1750" dirty="0"/>
          </a:p>
        </p:txBody>
      </p:sp>
      <p:sp>
        <p:nvSpPr>
          <p:cNvPr id="23" name="Dikdörtgen 22">
            <a:extLst>
              <a:ext uri="{FF2B5EF4-FFF2-40B4-BE49-F238E27FC236}">
                <a16:creationId xmlns:a16="http://schemas.microsoft.com/office/drawing/2014/main" id="{F60DFA48-96AB-8AF8-B632-57E67A126FA0}"/>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312069" y="510659"/>
            <a:ext cx="4350068" cy="543758"/>
          </a:xfrm>
          <a:prstGeom prst="rect">
            <a:avLst/>
          </a:prstGeom>
          <a:noFill/>
          <a:ln/>
        </p:spPr>
        <p:txBody>
          <a:bodyPr wrap="none" lIns="0" tIns="0" rIns="0" bIns="0" rtlCol="0" anchor="t"/>
          <a:lstStyle/>
          <a:p>
            <a:pPr marL="0" indent="0" algn="l">
              <a:lnSpc>
                <a:spcPts val="4250"/>
              </a:lnSpc>
              <a:buNone/>
            </a:pPr>
            <a:r>
              <a:rPr lang="en-US" sz="3400" dirty="0">
                <a:solidFill>
                  <a:srgbClr val="000000"/>
                </a:solidFill>
                <a:latin typeface="Source Serif 4 Semi Bold" pitchFamily="34" charset="0"/>
                <a:ea typeface="Source Serif 4 Semi Bold" pitchFamily="34" charset="-122"/>
                <a:cs typeface="Source Serif 4 Semi Bold" pitchFamily="34" charset="-120"/>
              </a:rPr>
              <a:t>Architecture Style</a:t>
            </a:r>
            <a:endParaRPr lang="en-US" sz="3400" dirty="0"/>
          </a:p>
        </p:txBody>
      </p:sp>
      <p:sp>
        <p:nvSpPr>
          <p:cNvPr id="3" name="Text 1"/>
          <p:cNvSpPr/>
          <p:nvPr/>
        </p:nvSpPr>
        <p:spPr>
          <a:xfrm>
            <a:off x="1312069" y="1411248"/>
            <a:ext cx="2670453" cy="2936081"/>
          </a:xfrm>
          <a:prstGeom prst="rect">
            <a:avLst/>
          </a:prstGeom>
          <a:noFill/>
          <a:ln/>
        </p:spPr>
        <p:txBody>
          <a:bodyPr wrap="square" lIns="0" tIns="0" rIns="0" bIns="0" rtlCol="0" anchor="t"/>
          <a:lstStyle/>
          <a:p>
            <a:pPr marL="0" indent="0" algn="l">
              <a:lnSpc>
                <a:spcPts val="2550"/>
              </a:lnSpc>
              <a:buNone/>
            </a:pPr>
            <a:r>
              <a:rPr lang="en-US" sz="2050" dirty="0">
                <a:solidFill>
                  <a:srgbClr val="000000"/>
                </a:solidFill>
                <a:latin typeface="Source Serif 4 Semi Bold" pitchFamily="34" charset="0"/>
                <a:ea typeface="Source Serif 4 Semi Bold" pitchFamily="34" charset="-122"/>
                <a:cs typeface="Source Serif 4 Semi Bold" pitchFamily="34" charset="-120"/>
              </a:rPr>
              <a:t>Layered Architecture</a:t>
            </a:r>
            <a:endParaRPr lang="en-US" sz="2050" dirty="0"/>
          </a:p>
        </p:txBody>
      </p:sp>
      <p:sp>
        <p:nvSpPr>
          <p:cNvPr id="4" name="Text 2"/>
          <p:cNvSpPr/>
          <p:nvPr/>
        </p:nvSpPr>
        <p:spPr>
          <a:xfrm>
            <a:off x="1312069" y="4404360"/>
            <a:ext cx="2609969" cy="326231"/>
          </a:xfrm>
          <a:prstGeom prst="rect">
            <a:avLst/>
          </a:prstGeom>
          <a:noFill/>
          <a:ln/>
        </p:spPr>
        <p:txBody>
          <a:bodyPr wrap="none" lIns="0" tIns="0" rIns="0" bIns="0" rtlCol="0" anchor="t"/>
          <a:lstStyle/>
          <a:p>
            <a:pPr marL="0" indent="0" algn="l">
              <a:lnSpc>
                <a:spcPts val="2550"/>
              </a:lnSpc>
              <a:buNone/>
            </a:pPr>
            <a:r>
              <a:rPr lang="en-US" sz="2050" dirty="0">
                <a:solidFill>
                  <a:srgbClr val="BE49DF"/>
                </a:solidFill>
                <a:latin typeface="Source Serif 4 Semi Bold" pitchFamily="34" charset="0"/>
                <a:ea typeface="Source Serif 4 Semi Bold" pitchFamily="34" charset="-122"/>
                <a:cs typeface="Source Serif 4 Semi Bold" pitchFamily="34" charset="-120"/>
              </a:rPr>
              <a:t>Why Chosen</a:t>
            </a:r>
            <a:endParaRPr lang="en-US" sz="2050" dirty="0"/>
          </a:p>
        </p:txBody>
      </p:sp>
      <p:sp>
        <p:nvSpPr>
          <p:cNvPr id="5" name="Text 3"/>
          <p:cNvSpPr/>
          <p:nvPr/>
        </p:nvSpPr>
        <p:spPr>
          <a:xfrm>
            <a:off x="1312069" y="4873347"/>
            <a:ext cx="4282678" cy="524113"/>
          </a:xfrm>
          <a:prstGeom prst="rect">
            <a:avLst/>
          </a:prstGeom>
          <a:noFill/>
          <a:ln/>
        </p:spPr>
        <p:txBody>
          <a:bodyPr wrap="square" lIns="0" tIns="0" rIns="0" bIns="0" rtlCol="0" anchor="t"/>
          <a:lstStyle/>
          <a:p>
            <a:pPr marL="0" indent="0" algn="l">
              <a:lnSpc>
                <a:spcPts val="2050"/>
              </a:lnSpc>
              <a:buNone/>
            </a:pPr>
            <a:r>
              <a:rPr lang="en-US" sz="1450" dirty="0">
                <a:solidFill>
                  <a:srgbClr val="272525"/>
                </a:solidFill>
                <a:latin typeface="Source Sans 3" pitchFamily="34" charset="0"/>
                <a:ea typeface="Source Sans 3" pitchFamily="34" charset="-122"/>
                <a:cs typeface="Source Sans 3" pitchFamily="34" charset="-120"/>
              </a:rPr>
              <a:t>Provides strict separation of services for Simplicity, Accuracy, and Scalability</a:t>
            </a:r>
            <a:endParaRPr lang="en-US" sz="1450" dirty="0"/>
          </a:p>
        </p:txBody>
      </p:sp>
      <p:pic>
        <p:nvPicPr>
          <p:cNvPr id="6" name="Image 0" descr="preencoded.png"/>
          <p:cNvPicPr>
            <a:picLocks noChangeAspect="1"/>
          </p:cNvPicPr>
          <p:nvPr/>
        </p:nvPicPr>
        <p:blipFill>
          <a:blip r:embed="rId3"/>
          <a:stretch>
            <a:fillRect/>
          </a:stretch>
        </p:blipFill>
        <p:spPr>
          <a:xfrm>
            <a:off x="6053376" y="1429107"/>
            <a:ext cx="7272338" cy="6129099"/>
          </a:xfrm>
          <a:prstGeom prst="rect">
            <a:avLst/>
          </a:prstGeom>
        </p:spPr>
      </p:pic>
      <p:sp>
        <p:nvSpPr>
          <p:cNvPr id="7" name="Dikdörtgen 6">
            <a:extLst>
              <a:ext uri="{FF2B5EF4-FFF2-40B4-BE49-F238E27FC236}">
                <a16:creationId xmlns:a16="http://schemas.microsoft.com/office/drawing/2014/main" id="{EDF6FB11-1A8A-6F48-C53C-2132C3D3C931}"/>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204198"/>
            <a:ext cx="9323308"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UML Diagrams - Use Case Diagram</a:t>
            </a:r>
            <a:endParaRPr lang="en-US" sz="4400" dirty="0"/>
          </a:p>
        </p:txBody>
      </p:sp>
      <p:sp>
        <p:nvSpPr>
          <p:cNvPr id="3" name="Text 1"/>
          <p:cNvSpPr/>
          <p:nvPr/>
        </p:nvSpPr>
        <p:spPr>
          <a:xfrm>
            <a:off x="837724" y="2506504"/>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Actors</a:t>
            </a:r>
            <a:endParaRPr lang="en-US" sz="2650" dirty="0"/>
          </a:p>
        </p:txBody>
      </p:sp>
      <p:sp>
        <p:nvSpPr>
          <p:cNvPr id="4" name="Text 2"/>
          <p:cNvSpPr/>
          <p:nvPr/>
        </p:nvSpPr>
        <p:spPr>
          <a:xfrm>
            <a:off x="837724" y="3168134"/>
            <a:ext cx="5779294"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Three primary human actors (Student, Library Management, University Administration) and two system actors.</a:t>
            </a:r>
            <a:endParaRPr lang="en-US" sz="1850" dirty="0"/>
          </a:p>
        </p:txBody>
      </p:sp>
      <p:sp>
        <p:nvSpPr>
          <p:cNvPr id="5" name="Text 3"/>
          <p:cNvSpPr/>
          <p:nvPr/>
        </p:nvSpPr>
        <p:spPr>
          <a:xfrm>
            <a:off x="837724" y="4556522"/>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BE49DF"/>
                </a:solidFill>
                <a:latin typeface="Source Serif 4 Semi Bold" pitchFamily="34" charset="0"/>
                <a:ea typeface="Source Serif 4 Semi Bold" pitchFamily="34" charset="-122"/>
                <a:cs typeface="Source Serif 4 Semi Bold" pitchFamily="34" charset="-120"/>
              </a:rPr>
              <a:t>Key Highlight</a:t>
            </a:r>
            <a:endParaRPr lang="en-US" sz="2650" dirty="0"/>
          </a:p>
        </p:txBody>
      </p:sp>
      <p:sp>
        <p:nvSpPr>
          <p:cNvPr id="6" name="Text 4"/>
          <p:cNvSpPr/>
          <p:nvPr/>
        </p:nvSpPr>
        <p:spPr>
          <a:xfrm>
            <a:off x="837724" y="5218152"/>
            <a:ext cx="5779294"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The &lt;&lt;include&gt;&gt; relationship with the "Login" use case guarantees that actions like submitting feedback or reserving an area are secure and restricted to verified users.</a:t>
            </a:r>
            <a:endParaRPr lang="en-US" sz="1850" dirty="0"/>
          </a:p>
        </p:txBody>
      </p:sp>
      <p:pic>
        <p:nvPicPr>
          <p:cNvPr id="7" name="Image 0" descr="preencoded.png"/>
          <p:cNvPicPr>
            <a:picLocks noChangeAspect="1"/>
          </p:cNvPicPr>
          <p:nvPr/>
        </p:nvPicPr>
        <p:blipFill>
          <a:blip r:embed="rId3"/>
          <a:stretch>
            <a:fillRect/>
          </a:stretch>
        </p:blipFill>
        <p:spPr>
          <a:xfrm>
            <a:off x="7208520" y="2536388"/>
            <a:ext cx="6591657" cy="3621405"/>
          </a:xfrm>
          <a:prstGeom prst="rect">
            <a:avLst/>
          </a:prstGeom>
        </p:spPr>
      </p:pic>
      <p:sp>
        <p:nvSpPr>
          <p:cNvPr id="8" name="Text 5"/>
          <p:cNvSpPr/>
          <p:nvPr/>
        </p:nvSpPr>
        <p:spPr>
          <a:xfrm>
            <a:off x="7208520" y="6426994"/>
            <a:ext cx="6591657"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9" name="Dikdörtgen 8">
            <a:extLst>
              <a:ext uri="{FF2B5EF4-FFF2-40B4-BE49-F238E27FC236}">
                <a16:creationId xmlns:a16="http://schemas.microsoft.com/office/drawing/2014/main" id="{5C5AA612-B5AD-4ED9-C887-8A6B17AB7242}"/>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068229"/>
            <a:ext cx="836807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UML Diagrams - Class Diagram</a:t>
            </a:r>
            <a:endParaRPr lang="en-US" sz="4400" dirty="0"/>
          </a:p>
        </p:txBody>
      </p:sp>
      <p:sp>
        <p:nvSpPr>
          <p:cNvPr id="3" name="Text 1"/>
          <p:cNvSpPr/>
          <p:nvPr/>
        </p:nvSpPr>
        <p:spPr>
          <a:xfrm>
            <a:off x="837724" y="2370534"/>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Key Entities</a:t>
            </a:r>
            <a:endParaRPr lang="en-US" sz="2650" dirty="0"/>
          </a:p>
        </p:txBody>
      </p:sp>
      <p:sp>
        <p:nvSpPr>
          <p:cNvPr id="4" name="Text 2"/>
          <p:cNvSpPr/>
          <p:nvPr/>
        </p:nvSpPr>
        <p:spPr>
          <a:xfrm>
            <a:off x="837724" y="3032165"/>
            <a:ext cx="5237798"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Library, StudyArea, User, Feedback, Reservation, and UsageStatistics.</a:t>
            </a:r>
            <a:endParaRPr lang="en-US" sz="1850" dirty="0"/>
          </a:p>
        </p:txBody>
      </p:sp>
      <p:sp>
        <p:nvSpPr>
          <p:cNvPr id="5" name="Text 3"/>
          <p:cNvSpPr/>
          <p:nvPr/>
        </p:nvSpPr>
        <p:spPr>
          <a:xfrm>
            <a:off x="837724" y="4037528"/>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BE49DF"/>
                </a:solidFill>
                <a:latin typeface="Source Serif 4 Semi Bold" pitchFamily="34" charset="0"/>
                <a:ea typeface="Source Serif 4 Semi Bold" pitchFamily="34" charset="-122"/>
                <a:cs typeface="Source Serif 4 Semi Bold" pitchFamily="34" charset="-120"/>
              </a:rPr>
              <a:t>Key Highlight</a:t>
            </a:r>
            <a:endParaRPr lang="en-US" sz="2650" dirty="0"/>
          </a:p>
        </p:txBody>
      </p:sp>
      <p:sp>
        <p:nvSpPr>
          <p:cNvPr id="6" name="Text 4"/>
          <p:cNvSpPr/>
          <p:nvPr/>
        </p:nvSpPr>
        <p:spPr>
          <a:xfrm>
            <a:off x="837724" y="4699159"/>
            <a:ext cx="5237798"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Controller classes (e.g., AuthController, ReservationController) act as bridges between the user interface and the database to maintain a clean architecture.</a:t>
            </a:r>
            <a:endParaRPr lang="en-US" sz="1850" dirty="0"/>
          </a:p>
        </p:txBody>
      </p:sp>
      <p:sp>
        <p:nvSpPr>
          <p:cNvPr id="7" name="Text 5"/>
          <p:cNvSpPr/>
          <p:nvPr/>
        </p:nvSpPr>
        <p:spPr>
          <a:xfrm>
            <a:off x="6667024" y="2346603"/>
            <a:ext cx="7133153"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 </a:t>
            </a:r>
            <a:endParaRPr lang="en-US" sz="1850" dirty="0"/>
          </a:p>
        </p:txBody>
      </p:sp>
      <p:pic>
        <p:nvPicPr>
          <p:cNvPr id="8" name="Image 0" descr="preencoded.png"/>
          <p:cNvPicPr>
            <a:picLocks noChangeAspect="1"/>
          </p:cNvPicPr>
          <p:nvPr/>
        </p:nvPicPr>
        <p:blipFill>
          <a:blip r:embed="rId3"/>
          <a:stretch>
            <a:fillRect/>
          </a:stretch>
        </p:blipFill>
        <p:spPr>
          <a:xfrm>
            <a:off x="6667024" y="2998827"/>
            <a:ext cx="7126010" cy="3294936"/>
          </a:xfrm>
          <a:prstGeom prst="rect">
            <a:avLst/>
          </a:prstGeom>
        </p:spPr>
      </p:pic>
      <p:sp>
        <p:nvSpPr>
          <p:cNvPr id="9" name="Text 6"/>
          <p:cNvSpPr/>
          <p:nvPr/>
        </p:nvSpPr>
        <p:spPr>
          <a:xfrm>
            <a:off x="6667024" y="6562963"/>
            <a:ext cx="7133153"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10" name="Dikdörtgen 9">
            <a:extLst>
              <a:ext uri="{FF2B5EF4-FFF2-40B4-BE49-F238E27FC236}">
                <a16:creationId xmlns:a16="http://schemas.microsoft.com/office/drawing/2014/main" id="{2EB37A96-5EF2-F779-2103-9DB17B170E40}"/>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301710"/>
            <a:ext cx="955417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UML Diagrams - Sequence Diagram</a:t>
            </a:r>
            <a:endParaRPr lang="en-US" sz="4400" dirty="0"/>
          </a:p>
        </p:txBody>
      </p:sp>
      <p:sp>
        <p:nvSpPr>
          <p:cNvPr id="3" name="Text 1"/>
          <p:cNvSpPr/>
          <p:nvPr/>
        </p:nvSpPr>
        <p:spPr>
          <a:xfrm>
            <a:off x="837724" y="2604016"/>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Workflow</a:t>
            </a:r>
            <a:endParaRPr lang="en-US" sz="2650" dirty="0"/>
          </a:p>
        </p:txBody>
      </p:sp>
      <p:sp>
        <p:nvSpPr>
          <p:cNvPr id="4" name="Text 2"/>
          <p:cNvSpPr/>
          <p:nvPr/>
        </p:nvSpPr>
        <p:spPr>
          <a:xfrm>
            <a:off x="837724" y="3265646"/>
            <a:ext cx="6185535"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Displays the complex workflow for reserving a study area.</a:t>
            </a:r>
            <a:endParaRPr lang="en-US" sz="1850" dirty="0"/>
          </a:p>
        </p:txBody>
      </p:sp>
      <p:sp>
        <p:nvSpPr>
          <p:cNvPr id="5" name="Text 3"/>
          <p:cNvSpPr/>
          <p:nvPr/>
        </p:nvSpPr>
        <p:spPr>
          <a:xfrm>
            <a:off x="837724" y="3887986"/>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BE49DF"/>
                </a:solidFill>
                <a:latin typeface="Source Serif 4 Semi Bold" pitchFamily="34" charset="0"/>
                <a:ea typeface="Source Serif 4 Semi Bold" pitchFamily="34" charset="-122"/>
                <a:cs typeface="Source Serif 4 Semi Bold" pitchFamily="34" charset="-120"/>
              </a:rPr>
              <a:t>Key Highlight</a:t>
            </a:r>
            <a:endParaRPr lang="en-US" sz="2650" dirty="0"/>
          </a:p>
        </p:txBody>
      </p:sp>
      <p:sp>
        <p:nvSpPr>
          <p:cNvPr id="6" name="Text 4"/>
          <p:cNvSpPr/>
          <p:nvPr/>
        </p:nvSpPr>
        <p:spPr>
          <a:xfrm>
            <a:off x="837724" y="4549616"/>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Ensures the student is logged in, then the ReservationController calls checkAvailability() to ensure the seat is free before continuing to saveReservation().</a:t>
            </a:r>
            <a:endParaRPr lang="en-US" sz="1850" dirty="0"/>
          </a:p>
        </p:txBody>
      </p:sp>
      <p:pic>
        <p:nvPicPr>
          <p:cNvPr id="7" name="Image 0" descr="preencoded.png"/>
          <p:cNvPicPr>
            <a:picLocks noChangeAspect="1"/>
          </p:cNvPicPr>
          <p:nvPr/>
        </p:nvPicPr>
        <p:blipFill>
          <a:blip r:embed="rId3"/>
          <a:stretch>
            <a:fillRect/>
          </a:stretch>
        </p:blipFill>
        <p:spPr>
          <a:xfrm>
            <a:off x="7614761" y="2633901"/>
            <a:ext cx="6185535" cy="4024789"/>
          </a:xfrm>
          <a:prstGeom prst="rect">
            <a:avLst/>
          </a:prstGeom>
        </p:spPr>
      </p:pic>
      <p:sp>
        <p:nvSpPr>
          <p:cNvPr id="8" name="Dikdörtgen 7">
            <a:extLst>
              <a:ext uri="{FF2B5EF4-FFF2-40B4-BE49-F238E27FC236}">
                <a16:creationId xmlns:a16="http://schemas.microsoft.com/office/drawing/2014/main" id="{CB809083-C300-CC4F-731D-AF26DD3C7988}"/>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9618" y="589002"/>
            <a:ext cx="5735122" cy="629960"/>
          </a:xfrm>
          <a:prstGeom prst="rect">
            <a:avLst/>
          </a:prstGeom>
          <a:noFill/>
          <a:ln/>
        </p:spPr>
        <p:txBody>
          <a:bodyPr wrap="none" lIns="0" tIns="0" rIns="0" bIns="0" rtlCol="0" anchor="t"/>
          <a:lstStyle/>
          <a:p>
            <a:pPr marL="0" indent="0" algn="l">
              <a:lnSpc>
                <a:spcPts val="4950"/>
              </a:lnSpc>
              <a:buNone/>
            </a:pPr>
            <a:r>
              <a:rPr lang="en-US" sz="3950" dirty="0">
                <a:solidFill>
                  <a:srgbClr val="000000"/>
                </a:solidFill>
                <a:latin typeface="Source Serif 4 Semi Bold" pitchFamily="34" charset="0"/>
                <a:ea typeface="Source Serif 4 Semi Bold" pitchFamily="34" charset="-122"/>
                <a:cs typeface="Source Serif 4 Semi Bold" pitchFamily="34" charset="-120"/>
              </a:rPr>
              <a:t>Selected Design Pattern</a:t>
            </a:r>
            <a:endParaRPr lang="en-US" sz="3950" dirty="0"/>
          </a:p>
        </p:txBody>
      </p:sp>
      <p:sp>
        <p:nvSpPr>
          <p:cNvPr id="3" name="Text 1"/>
          <p:cNvSpPr/>
          <p:nvPr/>
        </p:nvSpPr>
        <p:spPr>
          <a:xfrm>
            <a:off x="749618" y="1697950"/>
            <a:ext cx="3023949" cy="378023"/>
          </a:xfrm>
          <a:prstGeom prst="rect">
            <a:avLst/>
          </a:prstGeom>
          <a:noFill/>
          <a:ln/>
        </p:spPr>
        <p:txBody>
          <a:bodyPr wrap="none" lIns="0" tIns="0" rIns="0" bIns="0" rtlCol="0" anchor="t"/>
          <a:lstStyle/>
          <a:p>
            <a:pPr marL="0" indent="0" algn="l">
              <a:lnSpc>
                <a:spcPts val="2950"/>
              </a:lnSpc>
              <a:buNone/>
            </a:pPr>
            <a:r>
              <a:rPr lang="en-US" sz="2350" dirty="0">
                <a:solidFill>
                  <a:srgbClr val="000000"/>
                </a:solidFill>
                <a:latin typeface="Source Serif 4 Semi Bold" pitchFamily="34" charset="0"/>
                <a:ea typeface="Source Serif 4 Semi Bold" pitchFamily="34" charset="-122"/>
                <a:cs typeface="Source Serif 4 Semi Bold" pitchFamily="34" charset="-120"/>
              </a:rPr>
              <a:t>Pattern</a:t>
            </a:r>
            <a:endParaRPr lang="en-US" sz="2350" dirty="0"/>
          </a:p>
        </p:txBody>
      </p:sp>
      <p:sp>
        <p:nvSpPr>
          <p:cNvPr id="4" name="Text 2"/>
          <p:cNvSpPr/>
          <p:nvPr/>
        </p:nvSpPr>
        <p:spPr>
          <a:xfrm>
            <a:off x="749618" y="2267545"/>
            <a:ext cx="6167795" cy="324564"/>
          </a:xfrm>
          <a:prstGeom prst="rect">
            <a:avLst/>
          </a:prstGeom>
          <a:noFill/>
          <a:ln/>
        </p:spPr>
        <p:txBody>
          <a:bodyPr wrap="none" lIns="0" tIns="0" rIns="0" bIns="0" rtlCol="0" anchor="t"/>
          <a:lstStyle/>
          <a:p>
            <a:pPr marL="0" indent="0" algn="l">
              <a:lnSpc>
                <a:spcPts val="2550"/>
              </a:lnSpc>
              <a:buNone/>
            </a:pPr>
            <a:r>
              <a:rPr lang="en-US" sz="1650" dirty="0">
                <a:solidFill>
                  <a:srgbClr val="272525"/>
                </a:solidFill>
                <a:latin typeface="Source Sans 3" pitchFamily="34" charset="0"/>
                <a:ea typeface="Source Sans 3" pitchFamily="34" charset="-122"/>
                <a:cs typeface="Source Sans 3" pitchFamily="34" charset="-120"/>
              </a:rPr>
              <a:t>Singleton Design Pattern</a:t>
            </a:r>
            <a:endParaRPr lang="en-US" sz="1650" dirty="0"/>
          </a:p>
        </p:txBody>
      </p:sp>
      <p:sp>
        <p:nvSpPr>
          <p:cNvPr id="5" name="Text 3"/>
          <p:cNvSpPr/>
          <p:nvPr/>
        </p:nvSpPr>
        <p:spPr>
          <a:xfrm>
            <a:off x="749618" y="2783681"/>
            <a:ext cx="3023949" cy="378023"/>
          </a:xfrm>
          <a:prstGeom prst="rect">
            <a:avLst/>
          </a:prstGeom>
          <a:noFill/>
          <a:ln/>
        </p:spPr>
        <p:txBody>
          <a:bodyPr wrap="none" lIns="0" tIns="0" rIns="0" bIns="0" rtlCol="0" anchor="t"/>
          <a:lstStyle/>
          <a:p>
            <a:pPr marL="0" indent="0" algn="l">
              <a:lnSpc>
                <a:spcPts val="2950"/>
              </a:lnSpc>
              <a:buNone/>
            </a:pPr>
            <a:r>
              <a:rPr lang="en-US" sz="2350" dirty="0">
                <a:solidFill>
                  <a:srgbClr val="000000"/>
                </a:solidFill>
                <a:latin typeface="Source Serif 4 Semi Bold" pitchFamily="34" charset="0"/>
                <a:ea typeface="Source Serif 4 Semi Bold" pitchFamily="34" charset="-122"/>
                <a:cs typeface="Source Serif 4 Semi Bold" pitchFamily="34" charset="-120"/>
              </a:rPr>
              <a:t>Context</a:t>
            </a:r>
            <a:endParaRPr lang="en-US" sz="2350" dirty="0"/>
          </a:p>
        </p:txBody>
      </p:sp>
      <p:sp>
        <p:nvSpPr>
          <p:cNvPr id="6" name="Text 4"/>
          <p:cNvSpPr/>
          <p:nvPr/>
        </p:nvSpPr>
        <p:spPr>
          <a:xfrm>
            <a:off x="749618" y="3353276"/>
            <a:ext cx="6167795" cy="649129"/>
          </a:xfrm>
          <a:prstGeom prst="rect">
            <a:avLst/>
          </a:prstGeom>
          <a:noFill/>
          <a:ln/>
        </p:spPr>
        <p:txBody>
          <a:bodyPr wrap="square" lIns="0" tIns="0" rIns="0" bIns="0" rtlCol="0" anchor="t"/>
          <a:lstStyle/>
          <a:p>
            <a:pPr marL="0" indent="0" algn="l">
              <a:lnSpc>
                <a:spcPts val="2550"/>
              </a:lnSpc>
              <a:buNone/>
            </a:pPr>
            <a:r>
              <a:rPr lang="en-US" sz="1650" dirty="0">
                <a:solidFill>
                  <a:srgbClr val="272525"/>
                </a:solidFill>
                <a:latin typeface="Source Sans 3" pitchFamily="34" charset="0"/>
                <a:ea typeface="Source Sans 3" pitchFamily="34" charset="-122"/>
                <a:cs typeface="Source Sans 3" pitchFamily="34" charset="-120"/>
              </a:rPr>
              <a:t>Used to manage the SystemDatabase connection.</a:t>
            </a:r>
            <a:endParaRPr lang="en-US" sz="1650" dirty="0"/>
          </a:p>
        </p:txBody>
      </p:sp>
      <p:sp>
        <p:nvSpPr>
          <p:cNvPr id="7" name="Text 5"/>
          <p:cNvSpPr/>
          <p:nvPr/>
        </p:nvSpPr>
        <p:spPr>
          <a:xfrm>
            <a:off x="749618" y="4193977"/>
            <a:ext cx="3023949" cy="378023"/>
          </a:xfrm>
          <a:prstGeom prst="rect">
            <a:avLst/>
          </a:prstGeom>
          <a:noFill/>
          <a:ln/>
        </p:spPr>
        <p:txBody>
          <a:bodyPr wrap="none" lIns="0" tIns="0" rIns="0" bIns="0" rtlCol="0" anchor="t"/>
          <a:lstStyle/>
          <a:p>
            <a:pPr marL="0" indent="0" algn="l">
              <a:lnSpc>
                <a:spcPts val="2950"/>
              </a:lnSpc>
              <a:buNone/>
            </a:pPr>
            <a:r>
              <a:rPr lang="en-US" sz="2350" dirty="0">
                <a:solidFill>
                  <a:srgbClr val="BE49DF"/>
                </a:solidFill>
                <a:latin typeface="Source Serif 4 Semi Bold" pitchFamily="34" charset="0"/>
                <a:ea typeface="Source Serif 4 Semi Bold" pitchFamily="34" charset="-122"/>
                <a:cs typeface="Source Serif 4 Semi Bold" pitchFamily="34" charset="-120"/>
              </a:rPr>
              <a:t>Why Chosen</a:t>
            </a:r>
            <a:endParaRPr lang="en-US" sz="2350" dirty="0"/>
          </a:p>
        </p:txBody>
      </p:sp>
      <p:sp>
        <p:nvSpPr>
          <p:cNvPr id="8" name="Text 6"/>
          <p:cNvSpPr/>
          <p:nvPr/>
        </p:nvSpPr>
        <p:spPr>
          <a:xfrm>
            <a:off x="749618" y="4763572"/>
            <a:ext cx="6167795" cy="973693"/>
          </a:xfrm>
          <a:prstGeom prst="rect">
            <a:avLst/>
          </a:prstGeom>
          <a:noFill/>
          <a:ln/>
        </p:spPr>
        <p:txBody>
          <a:bodyPr wrap="square" lIns="0" tIns="0" rIns="0" bIns="0" rtlCol="0" anchor="t"/>
          <a:lstStyle/>
          <a:p>
            <a:pPr marL="0" indent="0" algn="l">
              <a:lnSpc>
                <a:spcPts val="2550"/>
              </a:lnSpc>
              <a:buNone/>
            </a:pPr>
            <a:r>
              <a:rPr lang="en-US" sz="1650" dirty="0">
                <a:solidFill>
                  <a:srgbClr val="272525"/>
                </a:solidFill>
                <a:latin typeface="Source Sans 3" pitchFamily="34" charset="0"/>
                <a:ea typeface="Source Sans 3" pitchFamily="34" charset="-122"/>
                <a:cs typeface="Source Sans 3" pitchFamily="34" charset="-120"/>
              </a:rPr>
              <a:t>Opening a new connection for every request would waste memory and cause data synchronization problems. Singleton ensures only one shared instance exists during the application lifecycle.</a:t>
            </a:r>
            <a:endParaRPr lang="en-US" sz="1650" dirty="0"/>
          </a:p>
        </p:txBody>
      </p:sp>
      <p:pic>
        <p:nvPicPr>
          <p:cNvPr id="9" name="Image 0" descr="preencoded.png"/>
          <p:cNvPicPr>
            <a:picLocks noChangeAspect="1"/>
          </p:cNvPicPr>
          <p:nvPr/>
        </p:nvPicPr>
        <p:blipFill>
          <a:blip r:embed="rId3"/>
          <a:stretch>
            <a:fillRect/>
          </a:stretch>
        </p:blipFill>
        <p:spPr>
          <a:xfrm>
            <a:off x="7447478" y="1721882"/>
            <a:ext cx="6440805" cy="5792391"/>
          </a:xfrm>
          <a:prstGeom prst="rect">
            <a:avLst/>
          </a:prstGeom>
        </p:spPr>
      </p:pic>
      <p:sp>
        <p:nvSpPr>
          <p:cNvPr id="10" name="Dikdörtgen 9">
            <a:extLst>
              <a:ext uri="{FF2B5EF4-FFF2-40B4-BE49-F238E27FC236}">
                <a16:creationId xmlns:a16="http://schemas.microsoft.com/office/drawing/2014/main" id="{36B11C42-735D-9487-34B5-D0A960309334}"/>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531864" y="726877"/>
            <a:ext cx="580668" cy="255865"/>
          </a:xfrm>
          <a:prstGeom prst="roundRect">
            <a:avLst>
              <a:gd name="adj" fmla="val 19345"/>
            </a:avLst>
          </a:prstGeom>
          <a:noFill/>
          <a:ln w="7620">
            <a:solidFill>
              <a:srgbClr val="BE49DF"/>
            </a:solidFill>
            <a:prstDash val="solid"/>
          </a:ln>
        </p:spPr>
        <p:txBody>
          <a:bodyPr/>
          <a:lstStyle/>
          <a:p>
            <a:endParaRPr lang="tr-TR"/>
          </a:p>
        </p:txBody>
      </p:sp>
      <p:sp>
        <p:nvSpPr>
          <p:cNvPr id="3" name="Text 1"/>
          <p:cNvSpPr/>
          <p:nvPr/>
        </p:nvSpPr>
        <p:spPr>
          <a:xfrm>
            <a:off x="2627828" y="778669"/>
            <a:ext cx="388739" cy="152281"/>
          </a:xfrm>
          <a:prstGeom prst="rect">
            <a:avLst/>
          </a:prstGeom>
          <a:noFill/>
          <a:ln/>
        </p:spPr>
        <p:txBody>
          <a:bodyPr wrap="none" lIns="0" tIns="0" rIns="0" bIns="0" rtlCol="0" anchor="t"/>
          <a:lstStyle/>
          <a:p>
            <a:pPr marL="0" indent="0" algn="l">
              <a:lnSpc>
                <a:spcPts val="1150"/>
              </a:lnSpc>
              <a:buNone/>
            </a:pPr>
            <a:r>
              <a:rPr lang="en-US" sz="900" dirty="0">
                <a:solidFill>
                  <a:srgbClr val="BE49DF"/>
                </a:solidFill>
                <a:latin typeface="Source Sans 3" pitchFamily="34" charset="0"/>
                <a:ea typeface="Source Sans 3" pitchFamily="34" charset="-122"/>
                <a:cs typeface="Source Sans 3" pitchFamily="34" charset="-120"/>
              </a:rPr>
              <a:t>GITHUB</a:t>
            </a:r>
            <a:endParaRPr lang="en-US" sz="900" dirty="0"/>
          </a:p>
        </p:txBody>
      </p:sp>
      <p:sp>
        <p:nvSpPr>
          <p:cNvPr id="4" name="Text 2"/>
          <p:cNvSpPr/>
          <p:nvPr/>
        </p:nvSpPr>
        <p:spPr>
          <a:xfrm>
            <a:off x="2531864" y="1018937"/>
            <a:ext cx="4985385" cy="433149"/>
          </a:xfrm>
          <a:prstGeom prst="rect">
            <a:avLst/>
          </a:prstGeom>
          <a:noFill/>
          <a:ln/>
        </p:spPr>
        <p:txBody>
          <a:bodyPr wrap="none" lIns="0" tIns="0" rIns="0" bIns="0" rtlCol="0" anchor="t"/>
          <a:lstStyle/>
          <a:p>
            <a:pPr marL="0" indent="0" algn="l">
              <a:lnSpc>
                <a:spcPts val="3400"/>
              </a:lnSpc>
              <a:buNone/>
            </a:pPr>
            <a:r>
              <a:rPr lang="en-US" sz="2700" dirty="0">
                <a:solidFill>
                  <a:srgbClr val="000000"/>
                </a:solidFill>
                <a:latin typeface="Source Serif 4 Semi Bold" pitchFamily="34" charset="0"/>
                <a:ea typeface="Source Serif 4 Semi Bold" pitchFamily="34" charset="-122"/>
                <a:cs typeface="Source Serif 4 Semi Bold" pitchFamily="34" charset="-120"/>
              </a:rPr>
              <a:t>Project Management (GitHub)</a:t>
            </a:r>
            <a:endParaRPr lang="en-US" sz="2700" dirty="0"/>
          </a:p>
        </p:txBody>
      </p:sp>
      <p:sp>
        <p:nvSpPr>
          <p:cNvPr id="5" name="Shape 3"/>
          <p:cNvSpPr/>
          <p:nvPr/>
        </p:nvSpPr>
        <p:spPr>
          <a:xfrm>
            <a:off x="2531864" y="1661674"/>
            <a:ext cx="9566553" cy="25956"/>
          </a:xfrm>
          <a:prstGeom prst="rect">
            <a:avLst/>
          </a:prstGeom>
          <a:solidFill>
            <a:srgbClr val="272525">
              <a:alpha val="50000"/>
            </a:srgbClr>
          </a:solidFill>
          <a:ln/>
        </p:spPr>
        <p:txBody>
          <a:bodyPr/>
          <a:lstStyle/>
          <a:p>
            <a:endParaRPr lang="tr-TR"/>
          </a:p>
        </p:txBody>
      </p:sp>
      <p:sp>
        <p:nvSpPr>
          <p:cNvPr id="6" name="Text 4"/>
          <p:cNvSpPr/>
          <p:nvPr/>
        </p:nvSpPr>
        <p:spPr>
          <a:xfrm>
            <a:off x="2531864" y="1789509"/>
            <a:ext cx="9566553" cy="380524"/>
          </a:xfrm>
          <a:prstGeom prst="rect">
            <a:avLst/>
          </a:prstGeom>
          <a:noFill/>
          <a:ln/>
        </p:spPr>
        <p:txBody>
          <a:bodyPr wrap="square" lIns="0" tIns="0" rIns="0" bIns="0" rtlCol="0" anchor="t"/>
          <a:lstStyle/>
          <a:p>
            <a:pPr marL="0" indent="0" algn="l">
              <a:lnSpc>
                <a:spcPts val="1450"/>
              </a:lnSpc>
              <a:buNone/>
            </a:pPr>
            <a:r>
              <a:rPr lang="en-US" sz="1150" dirty="0">
                <a:solidFill>
                  <a:srgbClr val="272525"/>
                </a:solidFill>
                <a:latin typeface="Source Sans 3" pitchFamily="34" charset="0"/>
                <a:ea typeface="Source Sans 3" pitchFamily="34" charset="-122"/>
                <a:cs typeface="Source Sans 3" pitchFamily="34" charset="-120"/>
              </a:rPr>
              <a:t>Our project is meticulously managed within a well-structured GitHub repository. This platform transparently tracks our evolving tech stack, comprehensive commit history, and a robust branching strategy, ensuring efficient collaboration and clear development progress.</a:t>
            </a:r>
            <a:endParaRPr lang="en-US" sz="1150" dirty="0"/>
          </a:p>
        </p:txBody>
      </p:sp>
      <p:pic>
        <p:nvPicPr>
          <p:cNvPr id="7" name="Image 0" descr="preencoded.png"/>
          <p:cNvPicPr>
            <a:picLocks noChangeAspect="1"/>
          </p:cNvPicPr>
          <p:nvPr/>
        </p:nvPicPr>
        <p:blipFill>
          <a:blip r:embed="rId3"/>
          <a:stretch>
            <a:fillRect/>
          </a:stretch>
        </p:blipFill>
        <p:spPr>
          <a:xfrm>
            <a:off x="2531864" y="2373868"/>
            <a:ext cx="3863340" cy="5026819"/>
          </a:xfrm>
          <a:prstGeom prst="rect">
            <a:avLst/>
          </a:prstGeom>
        </p:spPr>
      </p:pic>
      <p:pic>
        <p:nvPicPr>
          <p:cNvPr id="8" name="Image 1" descr="preencoded.png"/>
          <p:cNvPicPr>
            <a:picLocks noChangeAspect="1"/>
          </p:cNvPicPr>
          <p:nvPr/>
        </p:nvPicPr>
        <p:blipFill>
          <a:blip r:embed="rId4"/>
          <a:stretch>
            <a:fillRect/>
          </a:stretch>
        </p:blipFill>
        <p:spPr>
          <a:xfrm>
            <a:off x="7502366" y="2373868"/>
            <a:ext cx="4603552" cy="3507819"/>
          </a:xfrm>
          <a:prstGeom prst="rect">
            <a:avLst/>
          </a:prstGeom>
        </p:spPr>
      </p:pic>
      <p:sp>
        <p:nvSpPr>
          <p:cNvPr id="9" name="Dikdörtgen 8">
            <a:extLst>
              <a:ext uri="{FF2B5EF4-FFF2-40B4-BE49-F238E27FC236}">
                <a16:creationId xmlns:a16="http://schemas.microsoft.com/office/drawing/2014/main" id="{0413315A-519E-B334-7C31-24D20AAFEC99}"/>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07601" y="634484"/>
            <a:ext cx="6883241" cy="678656"/>
          </a:xfrm>
          <a:prstGeom prst="rect">
            <a:avLst/>
          </a:prstGeom>
          <a:noFill/>
          <a:ln/>
        </p:spPr>
        <p:txBody>
          <a:bodyPr wrap="none" lIns="0" tIns="0" rIns="0" bIns="0" rtlCol="0" anchor="t"/>
          <a:lstStyle/>
          <a:p>
            <a:pPr marL="0" indent="0" algn="l">
              <a:lnSpc>
                <a:spcPts val="5300"/>
              </a:lnSpc>
              <a:buNone/>
            </a:pPr>
            <a:r>
              <a:rPr lang="en-US" sz="4250" dirty="0">
                <a:solidFill>
                  <a:srgbClr val="000000"/>
                </a:solidFill>
                <a:latin typeface="Source Serif 4 Semi Bold" pitchFamily="34" charset="0"/>
                <a:ea typeface="Source Serif 4 Semi Bold" pitchFamily="34" charset="-122"/>
                <a:cs typeface="Source Serif 4 Semi Bold" pitchFamily="34" charset="-120"/>
              </a:rPr>
              <a:t>Project Management (Jira)</a:t>
            </a:r>
            <a:endParaRPr lang="en-US" sz="4250" dirty="0"/>
          </a:p>
        </p:txBody>
      </p:sp>
      <p:sp>
        <p:nvSpPr>
          <p:cNvPr id="3" name="Text 1"/>
          <p:cNvSpPr/>
          <p:nvPr/>
        </p:nvSpPr>
        <p:spPr>
          <a:xfrm>
            <a:off x="807601" y="1757958"/>
            <a:ext cx="13015198" cy="724853"/>
          </a:xfrm>
          <a:prstGeom prst="rect">
            <a:avLst/>
          </a:prstGeom>
          <a:noFill/>
          <a:ln/>
        </p:spPr>
        <p:txBody>
          <a:bodyPr wrap="square" lIns="0" tIns="0" rIns="0" bIns="0" rtlCol="0" anchor="t"/>
          <a:lstStyle/>
          <a:p>
            <a:pPr marL="0" indent="0" algn="l">
              <a:lnSpc>
                <a:spcPts val="2850"/>
              </a:lnSpc>
              <a:buNone/>
            </a:pPr>
            <a:r>
              <a:rPr lang="en-US" sz="1800" dirty="0">
                <a:solidFill>
                  <a:srgbClr val="272525"/>
                </a:solidFill>
                <a:latin typeface="Source Sans 3" pitchFamily="34" charset="0"/>
                <a:ea typeface="Source Sans 3" pitchFamily="34" charset="-122"/>
                <a:cs typeface="Source Sans 3" pitchFamily="34" charset="-120"/>
              </a:rPr>
              <a:t>Core features like authentication and occupancy tracking are prioritised in the backlog and actively tracked in Sprint 1 using To Do, In Progress, and Done statuses.</a:t>
            </a:r>
            <a:endParaRPr lang="en-US" sz="1800" dirty="0"/>
          </a:p>
        </p:txBody>
      </p:sp>
      <p:sp>
        <p:nvSpPr>
          <p:cNvPr id="4" name="Text 2"/>
          <p:cNvSpPr/>
          <p:nvPr/>
        </p:nvSpPr>
        <p:spPr>
          <a:xfrm>
            <a:off x="807601" y="2933105"/>
            <a:ext cx="6090285" cy="362426"/>
          </a:xfrm>
          <a:prstGeom prst="rect">
            <a:avLst/>
          </a:prstGeom>
          <a:noFill/>
          <a:ln/>
        </p:spPr>
        <p:txBody>
          <a:bodyPr wrap="none" lIns="0" tIns="0" rIns="0" bIns="0" rtlCol="0" anchor="t"/>
          <a:lstStyle/>
          <a:p>
            <a:pPr marL="0" indent="0" algn="l">
              <a:lnSpc>
                <a:spcPts val="2850"/>
              </a:lnSpc>
              <a:buNone/>
            </a:pPr>
            <a:endParaRPr lang="en-US" sz="1800" dirty="0"/>
          </a:p>
        </p:txBody>
      </p:sp>
      <p:pic>
        <p:nvPicPr>
          <p:cNvPr id="5" name="Image 0" descr="preencoded.png"/>
          <p:cNvPicPr>
            <a:picLocks noChangeAspect="1"/>
          </p:cNvPicPr>
          <p:nvPr/>
        </p:nvPicPr>
        <p:blipFill>
          <a:blip r:embed="rId3"/>
          <a:stretch>
            <a:fillRect/>
          </a:stretch>
        </p:blipFill>
        <p:spPr>
          <a:xfrm>
            <a:off x="807601" y="3545681"/>
            <a:ext cx="6090285" cy="3040023"/>
          </a:xfrm>
          <a:prstGeom prst="rect">
            <a:avLst/>
          </a:prstGeom>
        </p:spPr>
      </p:pic>
      <p:pic>
        <p:nvPicPr>
          <p:cNvPr id="6" name="Image 1" descr="preencoded.png"/>
          <p:cNvPicPr>
            <a:picLocks noChangeAspect="1"/>
          </p:cNvPicPr>
          <p:nvPr/>
        </p:nvPicPr>
        <p:blipFill>
          <a:blip r:embed="rId4"/>
          <a:stretch>
            <a:fillRect/>
          </a:stretch>
        </p:blipFill>
        <p:spPr>
          <a:xfrm>
            <a:off x="7468433" y="2983111"/>
            <a:ext cx="6361867" cy="4365903"/>
          </a:xfrm>
          <a:prstGeom prst="rect">
            <a:avLst/>
          </a:prstGeom>
        </p:spPr>
      </p:pic>
      <p:sp>
        <p:nvSpPr>
          <p:cNvPr id="7" name="Dikdörtgen 6">
            <a:extLst>
              <a:ext uri="{FF2B5EF4-FFF2-40B4-BE49-F238E27FC236}">
                <a16:creationId xmlns:a16="http://schemas.microsoft.com/office/drawing/2014/main" id="{386A88F9-0830-0C31-B0C3-72095275C631}"/>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911423"/>
            <a:ext cx="6556415"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Conclusion &amp; Next Steps</a:t>
            </a:r>
            <a:endParaRPr lang="en-US" sz="4400" dirty="0"/>
          </a:p>
        </p:txBody>
      </p:sp>
      <p:sp>
        <p:nvSpPr>
          <p:cNvPr id="3" name="Text 1"/>
          <p:cNvSpPr/>
          <p:nvPr/>
        </p:nvSpPr>
        <p:spPr>
          <a:xfrm>
            <a:off x="837724" y="1711166"/>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Project Roadmap</a:t>
            </a:r>
            <a:endParaRPr lang="en-US" sz="2650" dirty="0"/>
          </a:p>
        </p:txBody>
      </p:sp>
      <p:sp>
        <p:nvSpPr>
          <p:cNvPr id="4" name="Text 2"/>
          <p:cNvSpPr/>
          <p:nvPr/>
        </p:nvSpPr>
        <p:spPr>
          <a:xfrm>
            <a:off x="837724" y="2492454"/>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erif 4 Light" pitchFamily="34" charset="0"/>
                <a:ea typeface="Source Serif 4 Light" pitchFamily="34" charset="-122"/>
                <a:cs typeface="Source Serif 4 Light" pitchFamily="34" charset="-120"/>
              </a:rPr>
              <a:t>01</a:t>
            </a:r>
            <a:endParaRPr lang="en-US" sz="1850" dirty="0"/>
          </a:p>
        </p:txBody>
      </p:sp>
      <p:sp>
        <p:nvSpPr>
          <p:cNvPr id="5" name="Shape 3"/>
          <p:cNvSpPr/>
          <p:nvPr/>
        </p:nvSpPr>
        <p:spPr>
          <a:xfrm>
            <a:off x="837724" y="2868811"/>
            <a:ext cx="6357818" cy="30480"/>
          </a:xfrm>
          <a:prstGeom prst="rect">
            <a:avLst/>
          </a:prstGeom>
          <a:solidFill>
            <a:srgbClr val="BE49DF"/>
          </a:solidFill>
          <a:ln/>
        </p:spPr>
        <p:txBody>
          <a:bodyPr/>
          <a:lstStyle/>
          <a:p>
            <a:endParaRPr lang="tr-TR"/>
          </a:p>
        </p:txBody>
      </p:sp>
      <p:sp>
        <p:nvSpPr>
          <p:cNvPr id="6" name="Text 4"/>
          <p:cNvSpPr/>
          <p:nvPr/>
        </p:nvSpPr>
        <p:spPr>
          <a:xfrm>
            <a:off x="837724" y="3049429"/>
            <a:ext cx="4227314"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Weeks 10-12: System Validation</a:t>
            </a:r>
            <a:endParaRPr lang="en-US" sz="2200" dirty="0"/>
          </a:p>
        </p:txBody>
      </p:sp>
      <p:sp>
        <p:nvSpPr>
          <p:cNvPr id="7" name="Text 5"/>
          <p:cNvSpPr/>
          <p:nvPr/>
        </p:nvSpPr>
        <p:spPr>
          <a:xfrm>
            <a:off x="837724" y="3544967"/>
            <a:ext cx="6357818"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Focused efforts on thorough system testing, debugging, and implementing stringent quality controls to ensure robust performance and user satisfaction.</a:t>
            </a:r>
            <a:endParaRPr lang="en-US" sz="1850" dirty="0"/>
          </a:p>
        </p:txBody>
      </p:sp>
      <p:sp>
        <p:nvSpPr>
          <p:cNvPr id="8" name="Text 6"/>
          <p:cNvSpPr/>
          <p:nvPr/>
        </p:nvSpPr>
        <p:spPr>
          <a:xfrm>
            <a:off x="7434858" y="2492454"/>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erif 4 Light" pitchFamily="34" charset="0"/>
                <a:ea typeface="Source Serif 4 Light" pitchFamily="34" charset="-122"/>
                <a:cs typeface="Source Serif 4 Light" pitchFamily="34" charset="-120"/>
              </a:rPr>
              <a:t>02</a:t>
            </a:r>
            <a:endParaRPr lang="en-US" sz="1850" dirty="0"/>
          </a:p>
        </p:txBody>
      </p:sp>
      <p:sp>
        <p:nvSpPr>
          <p:cNvPr id="9" name="Shape 7"/>
          <p:cNvSpPr/>
          <p:nvPr/>
        </p:nvSpPr>
        <p:spPr>
          <a:xfrm>
            <a:off x="7434858" y="2868811"/>
            <a:ext cx="6357818" cy="30480"/>
          </a:xfrm>
          <a:prstGeom prst="rect">
            <a:avLst/>
          </a:prstGeom>
          <a:solidFill>
            <a:srgbClr val="BE49DF"/>
          </a:solidFill>
          <a:ln/>
        </p:spPr>
        <p:txBody>
          <a:bodyPr/>
          <a:lstStyle/>
          <a:p>
            <a:endParaRPr lang="tr-TR"/>
          </a:p>
        </p:txBody>
      </p:sp>
      <p:sp>
        <p:nvSpPr>
          <p:cNvPr id="10" name="Text 8"/>
          <p:cNvSpPr/>
          <p:nvPr/>
        </p:nvSpPr>
        <p:spPr>
          <a:xfrm>
            <a:off x="7434858" y="3049429"/>
            <a:ext cx="424874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4 Semi Bold" pitchFamily="34" charset="0"/>
                <a:ea typeface="Source Serif 4 Semi Bold" pitchFamily="34" charset="-122"/>
                <a:cs typeface="Source Serif 4 Semi Bold" pitchFamily="34" charset="-120"/>
              </a:rPr>
              <a:t>Weeks 13-14: Final Deliverables</a:t>
            </a:r>
            <a:endParaRPr lang="en-US" sz="2200" dirty="0"/>
          </a:p>
        </p:txBody>
      </p:sp>
      <p:sp>
        <p:nvSpPr>
          <p:cNvPr id="11" name="Text 9"/>
          <p:cNvSpPr/>
          <p:nvPr/>
        </p:nvSpPr>
        <p:spPr>
          <a:xfrm>
            <a:off x="7434858" y="3544967"/>
            <a:ext cx="6357818"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Completion of final project documentation, comprehensive report preparation, and a compelling presentation showcasing our solution and its impact.</a:t>
            </a:r>
            <a:endParaRPr lang="en-US" sz="1850" dirty="0"/>
          </a:p>
        </p:txBody>
      </p:sp>
      <p:sp>
        <p:nvSpPr>
          <p:cNvPr id="12" name="Text 10"/>
          <p:cNvSpPr/>
          <p:nvPr/>
        </p:nvSpPr>
        <p:spPr>
          <a:xfrm>
            <a:off x="837724" y="5232440"/>
            <a:ext cx="3379470" cy="42231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Our End Goal</a:t>
            </a:r>
            <a:endParaRPr lang="en-US" sz="2650" dirty="0"/>
          </a:p>
        </p:txBody>
      </p:sp>
      <p:sp>
        <p:nvSpPr>
          <p:cNvPr id="13" name="Text 11"/>
          <p:cNvSpPr/>
          <p:nvPr/>
        </p:nvSpPr>
        <p:spPr>
          <a:xfrm>
            <a:off x="1196697" y="6282928"/>
            <a:ext cx="12595979"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To deliver a reliable, scalable system that revolutionizes how students access university study spaces, thereby saving valuable time and enhancing academic productivity.</a:t>
            </a:r>
            <a:endParaRPr lang="en-US" sz="1850" dirty="0"/>
          </a:p>
        </p:txBody>
      </p:sp>
      <p:sp>
        <p:nvSpPr>
          <p:cNvPr id="14" name="Shape 12"/>
          <p:cNvSpPr/>
          <p:nvPr/>
        </p:nvSpPr>
        <p:spPr>
          <a:xfrm>
            <a:off x="837724" y="6013728"/>
            <a:ext cx="30480" cy="1304449"/>
          </a:xfrm>
          <a:prstGeom prst="rect">
            <a:avLst/>
          </a:prstGeom>
          <a:solidFill>
            <a:srgbClr val="BE49DF"/>
          </a:solidFill>
          <a:ln/>
        </p:spPr>
        <p:txBody>
          <a:bodyPr/>
          <a:lstStyle/>
          <a:p>
            <a:endParaRPr lang="tr-TR"/>
          </a:p>
        </p:txBody>
      </p:sp>
      <p:sp>
        <p:nvSpPr>
          <p:cNvPr id="15" name="Dikdörtgen 14">
            <a:extLst>
              <a:ext uri="{FF2B5EF4-FFF2-40B4-BE49-F238E27FC236}">
                <a16:creationId xmlns:a16="http://schemas.microsoft.com/office/drawing/2014/main" id="{6C56BB7E-14D5-FA5E-2B9C-B4DE327E7622}"/>
              </a:ext>
            </a:extLst>
          </p:cNvPr>
          <p:cNvSpPr/>
          <p:nvPr/>
        </p:nvSpPr>
        <p:spPr>
          <a:xfrm>
            <a:off x="12579013" y="7623425"/>
            <a:ext cx="1933456" cy="534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676</Words>
  <Application>Microsoft Office PowerPoint</Application>
  <PresentationFormat>Özel</PresentationFormat>
  <Paragraphs>99</Paragraphs>
  <Slides>13</Slides>
  <Notes>13</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13</vt:i4>
      </vt:variant>
    </vt:vector>
  </HeadingPairs>
  <TitlesOfParts>
    <vt:vector size="18" baseType="lpstr">
      <vt:lpstr>Source Serif 4 Light</vt:lpstr>
      <vt:lpstr>Source Sans 3</vt:lpstr>
      <vt:lpstr>Arial</vt:lpstr>
      <vt:lpstr>Source Serif 4 Semi Bold</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REİS YILDIZ</cp:lastModifiedBy>
  <cp:revision>2</cp:revision>
  <dcterms:created xsi:type="dcterms:W3CDTF">2026-03-24T20:54:20Z</dcterms:created>
  <dcterms:modified xsi:type="dcterms:W3CDTF">2026-03-25T19:42:53Z</dcterms:modified>
</cp:coreProperties>
</file>